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eJaL2oDOKhht/DvWv+NytveB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C0CC2-5F1B-480B-8BA3-6A916898B99B}">
  <a:tblStyle styleId="{773C0CC2-5F1B-480B-8BA3-6A916898B99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A62089B-9A3E-4C9E-BC14-CCFD43E3546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db6316529_15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g3ddb6316529_15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ddb6316529_15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db6316529_15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g3ddb6316529_15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ddb6316529_15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db6316529_15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g3ddb6316529_15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ddb6316529_15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db6316529_15_1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ddb6316529_15_1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ddb6316529_15_1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db6316529_15_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ddb6316529_15_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ddb6316529_15_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b6316529_15_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3ddb6316529_15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ddb6316529_15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db6316529_15_1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ddb6316529_15_1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db6316529_15_1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b6316529_15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ddb6316529_15_1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db6316529_15_1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db6316529_15_2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g3ddb6316529_15_2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ddb6316529_15_2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f8857b14_3_1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ef8857b14_3_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db6316529_15_1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g3ddb6316529_15_1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ddb6316529_15_1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b6316529_15_1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ddb6316529_15_1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ddb6316529_15_1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b6316529_15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ddb6316529_15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ddb6316529_15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db6316529_25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ddb6316529_25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db6316529_25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ef8857b1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def8857b1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def8857b1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x8sMKFlbYoAS2K8tESAGECnwxbQ1LPxn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02920" y="457200"/>
            <a:ext cx="29260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02920" y="4572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COOK COUNTY HEALTH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114300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Echo Process Improvement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9202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A8BB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2A8BB"/>
                </a:solidFill>
                <a:latin typeface="Calibri"/>
                <a:ea typeface="Calibri"/>
                <a:cs typeface="Calibri"/>
                <a:sym typeface="Calibri"/>
              </a:rPr>
              <a:t>&amp; Revenue Analysis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2688844"/>
            <a:ext cx="841248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28575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D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Zanib H  ·  Nabila Baklia  ·  Umar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32320" y="182880"/>
            <a:ext cx="2286000" cy="22860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0" y="3017520"/>
            <a:ext cx="1371600" cy="1371600"/>
          </a:xfrm>
          <a:prstGeom prst="ellipse">
            <a:avLst/>
          </a:prstGeom>
          <a:solidFill>
            <a:srgbClr val="02A8BB">
              <a:alpha val="10196"/>
            </a:srgbClr>
          </a:solidFill>
          <a:ln cap="flat" cmpd="sng" w="12700">
            <a:solidFill>
              <a:srgbClr val="02A8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8861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330150" y="4244450"/>
            <a:ext cx="617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Faculty Advisor: Prof. Ranga C</a:t>
            </a:r>
            <a:r>
              <a:rPr lang="en-US" sz="1300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rgbClr val="8BAD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Teaching Assistant: Sonali B</a:t>
            </a:r>
            <a:r>
              <a:rPr lang="en-US" sz="1300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rgbClr val="8BAD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8BAD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db6316529_15_2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db6316529_15_24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Goals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ddb6316529_15_24"/>
          <p:cNvSpPr/>
          <p:nvPr/>
        </p:nvSpPr>
        <p:spPr>
          <a:xfrm>
            <a:off x="372875" y="815310"/>
            <a:ext cx="91500" cy="40407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ddb6316529_15_24"/>
          <p:cNvSpPr/>
          <p:nvPr/>
        </p:nvSpPr>
        <p:spPr>
          <a:xfrm>
            <a:off x="555036" y="839790"/>
            <a:ext cx="3886200" cy="1050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6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12700">
              <a:srgbClr val="000000">
                <a:alpha val="7843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01  |  WORKFLOW ANALYSIS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Analyze Inpatient and Outpatient Echo service workflows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ddb6316529_15_24"/>
          <p:cNvSpPr/>
          <p:nvPr/>
        </p:nvSpPr>
        <p:spPr>
          <a:xfrm>
            <a:off x="555036" y="2310150"/>
            <a:ext cx="3886200" cy="1050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6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12700">
              <a:srgbClr val="000000">
                <a:alpha val="7843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02  |  LEAN METHODOLOGY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Identify process improvement opportunities using Lean methodologies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ddb6316529_15_24"/>
          <p:cNvSpPr/>
          <p:nvPr/>
        </p:nvSpPr>
        <p:spPr>
          <a:xfrm>
            <a:off x="555036" y="3762930"/>
            <a:ext cx="3886200" cy="1050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6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12700">
              <a:srgbClr val="000000">
                <a:alpha val="7843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  |  OPERATIONAL EFFICIENCY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Recommend operational efficiency improvements for Cook County Health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ddb6316529_15_24"/>
          <p:cNvSpPr/>
          <p:nvPr/>
        </p:nvSpPr>
        <p:spPr>
          <a:xfrm>
            <a:off x="4534115" y="839790"/>
            <a:ext cx="4069800" cy="1050900"/>
          </a:xfrm>
          <a:prstGeom prst="rect">
            <a:avLst/>
          </a:prstGeom>
          <a:solidFill>
            <a:srgbClr val="0D2E5B"/>
          </a:solidFill>
          <a:ln>
            <a:noFill/>
          </a:ln>
          <a:effectLst>
            <a:outerShdw blurRad="50800" rotWithShape="0" dir="5400000" dist="12700">
              <a:srgbClr val="000000">
                <a:alpha val="14901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DC8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04  |  FINANCIAL PERFORMANCE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FY 2025 financial performance of the Cardiology Echo 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ddb6316529_15_24"/>
          <p:cNvSpPr/>
          <p:nvPr/>
        </p:nvSpPr>
        <p:spPr>
          <a:xfrm>
            <a:off x="4531957" y="2322950"/>
            <a:ext cx="4069800" cy="1050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50800" rotWithShape="0" dir="5400000" dist="12700">
              <a:srgbClr val="000000">
                <a:alpha val="14901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05  |  BILLING DISPARITIES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site-specific billing disparities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ddb6316529_15_24"/>
          <p:cNvSpPr/>
          <p:nvPr/>
        </p:nvSpPr>
        <p:spPr>
          <a:xfrm>
            <a:off x="4531957" y="3762930"/>
            <a:ext cx="4069800" cy="1050900"/>
          </a:xfrm>
          <a:prstGeom prst="rect">
            <a:avLst/>
          </a:prstGeom>
          <a:solidFill>
            <a:srgbClr val="EAF4F6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TWO CORE WORKSTREAMS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r>
              <a:rPr b="0" i="0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Echo Process Improvement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0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► </a:t>
            </a:r>
            <a:r>
              <a:rPr b="0" i="0" lang="en-US" sz="12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Financial Analysis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db6316529_15_4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ddb6316529_15_48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thodology.png" id="44" name="Google Shape;44;g3ddb6316529_15_48"/>
          <p:cNvPicPr preferRelativeResize="0"/>
          <p:nvPr/>
        </p:nvPicPr>
        <p:blipFill rotWithShape="1">
          <a:blip r:embed="rId3">
            <a:alphaModFix/>
          </a:blip>
          <a:srcRect b="4266" l="2633" r="2652" t="13538"/>
          <a:stretch/>
        </p:blipFill>
        <p:spPr>
          <a:xfrm>
            <a:off x="322550" y="1026874"/>
            <a:ext cx="8229601" cy="351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db6316529_15_6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db6316529_15_66"/>
          <p:cNvSpPr txBox="1"/>
          <p:nvPr/>
        </p:nvSpPr>
        <p:spPr>
          <a:xfrm>
            <a:off x="0" y="0"/>
            <a:ext cx="926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Maps: Out-Patient and In-Patient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p_map.png" id="52" name="Google Shape;52;g3ddb6316529_15_66"/>
          <p:cNvPicPr preferRelativeResize="0"/>
          <p:nvPr/>
        </p:nvPicPr>
        <p:blipFill rotWithShape="1">
          <a:blip r:embed="rId3">
            <a:alphaModFix/>
          </a:blip>
          <a:srcRect b="41405" l="2781" r="1001" t="3462"/>
          <a:stretch/>
        </p:blipFill>
        <p:spPr>
          <a:xfrm>
            <a:off x="0" y="736600"/>
            <a:ext cx="9144003" cy="1859276"/>
          </a:xfrm>
          <a:prstGeom prst="rect">
            <a:avLst/>
          </a:prstGeom>
          <a:noFill/>
          <a:ln cap="flat" cmpd="sng" w="12700">
            <a:solidFill>
              <a:srgbClr val="DDE6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12700">
              <a:srgbClr val="000000">
                <a:alpha val="10196"/>
              </a:srgbClr>
            </a:outerShdw>
          </a:effectLst>
        </p:spPr>
      </p:pic>
      <p:pic>
        <p:nvPicPr>
          <p:cNvPr descr="A screenshot of a computer  AI-generated content may be incorrect." id="53" name="Google Shape;53;g3ddb6316529_15_66"/>
          <p:cNvPicPr preferRelativeResize="0"/>
          <p:nvPr/>
        </p:nvPicPr>
        <p:blipFill rotWithShape="1">
          <a:blip r:embed="rId4">
            <a:alphaModFix/>
          </a:blip>
          <a:srcRect b="0" l="1000" r="0" t="9008"/>
          <a:stretch/>
        </p:blipFill>
        <p:spPr>
          <a:xfrm>
            <a:off x="0" y="2646675"/>
            <a:ext cx="9144002" cy="24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ddb6316529_15_66"/>
          <p:cNvSpPr/>
          <p:nvPr/>
        </p:nvSpPr>
        <p:spPr>
          <a:xfrm>
            <a:off x="5354325" y="4457750"/>
            <a:ext cx="3789600" cy="685800"/>
          </a:xfrm>
          <a:prstGeom prst="rect">
            <a:avLst/>
          </a:prstGeom>
          <a:solidFill>
            <a:srgbClr val="0D2E5B"/>
          </a:solidFill>
          <a:ln>
            <a:noFill/>
          </a:ln>
          <a:effectLst>
            <a:outerShdw blurRad="50800" rotWithShape="0" dir="5400000" dist="12700">
              <a:srgbClr val="000000">
                <a:alpha val="14901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DC8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8BADC8"/>
                </a:solidFill>
                <a:latin typeface="Calibri"/>
                <a:ea typeface="Calibri"/>
                <a:cs typeface="Calibri"/>
                <a:sym typeface="Calibri"/>
              </a:rPr>
              <a:t>05  |  In-Patient Process Map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complex than Outpatient, more variability in exam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ddb6316529_15_66"/>
          <p:cNvSpPr/>
          <p:nvPr/>
        </p:nvSpPr>
        <p:spPr>
          <a:xfrm>
            <a:off x="5354325" y="685800"/>
            <a:ext cx="3789600" cy="6858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50800" rotWithShape="0" dir="5400000" dist="12700">
              <a:srgbClr val="000000">
                <a:alpha val="14901"/>
              </a:srgbClr>
            </a:outerShdw>
          </a:effectLst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04  |  Out-Patient Process Map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Simpler procedures allows process to be easier to navigate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28595" y="522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TIME TRACKER — APP DEMO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46863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Custom mobile app deployed to Echo technologists — captures real-time timestamped durations per process 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5" title="ScreenRecording_05-06-2026 02-36-54_1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5" y="9405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b6316529_15_114"/>
          <p:cNvSpPr txBox="1"/>
          <p:nvPr/>
        </p:nvSpPr>
        <p:spPr>
          <a:xfrm>
            <a:off x="344950" y="0"/>
            <a:ext cx="668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Outpatient Spaghetti Diagram &amp;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g3ddb6316529_15_114"/>
          <p:cNvSpPr/>
          <p:nvPr/>
        </p:nvSpPr>
        <p:spPr>
          <a:xfrm>
            <a:off x="424575" y="626625"/>
            <a:ext cx="8297700" cy="804600"/>
          </a:xfrm>
          <a:prstGeom prst="rect">
            <a:avLst/>
          </a:prstGeom>
          <a:solidFill>
            <a:srgbClr val="0D2E5B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ddb6316529_15_114"/>
          <p:cNvSpPr/>
          <p:nvPr/>
        </p:nvSpPr>
        <p:spPr>
          <a:xfrm>
            <a:off x="523755" y="663224"/>
            <a:ext cx="118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ddb6316529_15_114"/>
          <p:cNvSpPr/>
          <p:nvPr/>
        </p:nvSpPr>
        <p:spPr>
          <a:xfrm>
            <a:off x="1712340" y="663225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Steps / Encounter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ddb6316529_15_114"/>
          <p:cNvSpPr/>
          <p:nvPr/>
        </p:nvSpPr>
        <p:spPr>
          <a:xfrm>
            <a:off x="1712340" y="95572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Per Outpatient visit tracked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db6316529_15_114"/>
          <p:cNvSpPr/>
          <p:nvPr/>
        </p:nvSpPr>
        <p:spPr>
          <a:xfrm>
            <a:off x="424582" y="1562025"/>
            <a:ext cx="8297700" cy="804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db6316529_15_114"/>
          <p:cNvSpPr/>
          <p:nvPr/>
        </p:nvSpPr>
        <p:spPr>
          <a:xfrm>
            <a:off x="523755" y="1598626"/>
            <a:ext cx="118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ddb6316529_15_114"/>
          <p:cNvSpPr/>
          <p:nvPr/>
        </p:nvSpPr>
        <p:spPr>
          <a:xfrm>
            <a:off x="1712340" y="1669145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Encounters Over 200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ddb6316529_15_114"/>
          <p:cNvSpPr/>
          <p:nvPr/>
        </p:nvSpPr>
        <p:spPr>
          <a:xfrm>
            <a:off x="1712340" y="196164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0B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DDE6F0"/>
                </a:solidFill>
                <a:latin typeface="Calibri"/>
                <a:ea typeface="Calibri"/>
                <a:cs typeface="Calibri"/>
                <a:sym typeface="Calibri"/>
              </a:rPr>
              <a:t>Linked to room conflicts &amp; delays</a:t>
            </a:r>
            <a:endParaRPr b="0" i="0" sz="1100" u="none" cap="none" strike="noStrike">
              <a:solidFill>
                <a:srgbClr val="DDE6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g3ddb6316529_15_114"/>
          <p:cNvGraphicFramePr/>
          <p:nvPr/>
        </p:nvGraphicFramePr>
        <p:xfrm>
          <a:off x="424578" y="2534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{773C0CC2-5F1B-480B-8BA3-6A916898B99B}</a:tableStyleId>
              </a:tblPr>
              <a:tblGrid>
                <a:gridCol w="8297700"/>
              </a:tblGrid>
              <a:tr h="37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2D5B"/>
                    </a:solidFill>
                  </a:tcPr>
                </a:tc>
              </a:tr>
              <a:tr h="1863375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Char char="●"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Check-in (62%): Workroom → Wait → Reception → Echo room every 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Char char="●"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Rooming (32%): Southern Echo rooms add significant distance per trip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Char char="●"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Bathroom detours: 60–100 extra steps, no clinical value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Char char="●"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Workroom 2831 isolated at far east wall — every supply trip crosses full floor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22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db6316529_15_7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db6316529_15_77"/>
          <p:cNvSpPr txBox="1"/>
          <p:nvPr/>
        </p:nvSpPr>
        <p:spPr>
          <a:xfrm>
            <a:off x="0" y="0"/>
            <a:ext cx="472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Procedure Level Analysis— Outpatient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3ddb6316529_15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55" y="974064"/>
            <a:ext cx="4379100" cy="30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ddb6316529_15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25" y="996413"/>
            <a:ext cx="4460100" cy="30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ddb6316529_15_77"/>
          <p:cNvSpPr/>
          <p:nvPr/>
        </p:nvSpPr>
        <p:spPr>
          <a:xfrm>
            <a:off x="274325" y="4184550"/>
            <a:ext cx="8595300" cy="927300"/>
          </a:xfrm>
          <a:prstGeom prst="rect">
            <a:avLst/>
          </a:prstGeom>
          <a:solidFill>
            <a:srgbClr val="0C2D5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db6316529_15_77"/>
          <p:cNvSpPr/>
          <p:nvPr/>
        </p:nvSpPr>
        <p:spPr>
          <a:xfrm>
            <a:off x="457200" y="4366750"/>
            <a:ext cx="832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Rooming max = 48.3 min (vs mean 3.9 minutes) — caused by room conflicts with patients that need Holter monitors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 Placement delay accounts for 46% of all Outpatient delay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events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(12 of 26 flagged records)</a:t>
            </a:r>
            <a:endParaRPr b="1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Pre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 outliers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were driven almost entirely by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Imaging software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 failures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 31.2 minutes vs.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 of just 2.7 minutes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b="1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b6316529_15_8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ddb6316529_15_88"/>
          <p:cNvSpPr txBox="1"/>
          <p:nvPr/>
        </p:nvSpPr>
        <p:spPr>
          <a:xfrm>
            <a:off x="0" y="0"/>
            <a:ext cx="472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Procedure Level Analysis— Inpatient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ddb6316529_15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1034687"/>
            <a:ext cx="4419600" cy="30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ddb6316529_15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50" y="1034600"/>
            <a:ext cx="4511100" cy="30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ddb6316529_15_88"/>
          <p:cNvSpPr/>
          <p:nvPr/>
        </p:nvSpPr>
        <p:spPr>
          <a:xfrm>
            <a:off x="274320" y="4309110"/>
            <a:ext cx="8595300" cy="640200"/>
          </a:xfrm>
          <a:prstGeom prst="rect">
            <a:avLst/>
          </a:prstGeom>
          <a:solidFill>
            <a:srgbClr val="1A2E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ddb6316529_15_88"/>
          <p:cNvSpPr/>
          <p:nvPr/>
        </p:nvSpPr>
        <p:spPr>
          <a:xfrm>
            <a:off x="457200" y="4345686"/>
            <a:ext cx="8321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Prep is the most critical step: Mean: 6 minutes but Standard Deviation of 20.2 minutes</a:t>
            </a:r>
            <a:endParaRPr b="1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bottleneck is floor travel without confirming patient availability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db6316529_15_102"/>
          <p:cNvSpPr txBox="1"/>
          <p:nvPr/>
        </p:nvSpPr>
        <p:spPr>
          <a:xfrm>
            <a:off x="113625" y="0"/>
            <a:ext cx="668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Lean Waste Identification — TIMWOODS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db6316529_15_102"/>
          <p:cNvSpPr/>
          <p:nvPr/>
        </p:nvSpPr>
        <p:spPr>
          <a:xfrm>
            <a:off x="228600" y="850800"/>
            <a:ext cx="2799900" cy="173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 - Inpatient: 35% / Outpatient: 64% </a:t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Nurse unavailability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IV delays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Patient restroom break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Room conflicts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Driven by lack of pre-scheduling</a:t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db6316529_15_102"/>
          <p:cNvSpPr/>
          <p:nvPr/>
        </p:nvSpPr>
        <p:spPr>
          <a:xfrm>
            <a:off x="3228600" y="850800"/>
            <a:ext cx="2799900" cy="1731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Transportation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 - Inpatient: 26% Outpatient: 4%</a:t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Elevator delays, Tech walking to Patients Floor, Repeated travel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Image transfer between systems 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Room conflicts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Fragmented workflow design</a:t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db6316529_15_102"/>
          <p:cNvSpPr/>
          <p:nvPr/>
        </p:nvSpPr>
        <p:spPr>
          <a:xfrm>
            <a:off x="6228600" y="850800"/>
            <a:ext cx="2799900" cy="1731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r>
              <a:rPr b="1" i="0" lang="en-US" sz="14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Inpatient: 9% / Outpatient: 14%</a:t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Tech assisting food trays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Pulled away for other patients 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Restroom help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QC during patient time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80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Unclear role boundaries</a:t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ddb6316529_15_102"/>
          <p:cNvSpPr/>
          <p:nvPr/>
        </p:nvSpPr>
        <p:spPr>
          <a:xfrm>
            <a:off x="228600" y="3113650"/>
            <a:ext cx="2799900" cy="1731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Defects</a:t>
            </a:r>
            <a:r>
              <a:rPr b="0" i="0" lang="en-US" sz="14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Inpatient: 9% / Outpatient: 11%</a:t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Imaging Software </a:t>
            </a: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login failures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Incorrect order types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Machine crashing</a:t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IT instability in software</a:t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ddb6316529_15_102"/>
          <p:cNvSpPr/>
          <p:nvPr/>
        </p:nvSpPr>
        <p:spPr>
          <a:xfrm>
            <a:off x="3228600" y="3113650"/>
            <a:ext cx="2799900" cy="1731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Inventory - 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Inpatient: 6% / Outpatient: 0%</a:t>
            </a:r>
            <a:endParaRPr b="1" i="0" sz="12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Optison/contrast agents not pre-stocked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Bubble study supplies not ready at scan start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No standardized protocols</a:t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db6316529_15_102"/>
          <p:cNvSpPr/>
          <p:nvPr/>
        </p:nvSpPr>
        <p:spPr>
          <a:xfrm>
            <a:off x="6228600" y="3113650"/>
            <a:ext cx="2799900" cy="1731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45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Motion - </a:t>
            </a: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Inpatient: 6% / Outpatient: Spaghetti</a:t>
            </a:r>
            <a:endParaRPr b="1" i="0" sz="12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Repeated corridor travel between workroom &amp; Echo rooms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D5B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No standardization travel sequence</a:t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2D5B"/>
                </a:solidFill>
                <a:latin typeface="Calibri"/>
                <a:ea typeface="Calibri"/>
                <a:cs typeface="Calibri"/>
                <a:sym typeface="Calibri"/>
              </a:rPr>
              <a:t>Unnecessary steps due to lack of coordination</a:t>
            </a:r>
            <a:endParaRPr b="1" i="0" sz="1400" u="none" cap="none" strike="noStrike">
              <a:solidFill>
                <a:srgbClr val="0C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b6316529_15_158"/>
          <p:cNvSpPr/>
          <p:nvPr/>
        </p:nvSpPr>
        <p:spPr>
          <a:xfrm>
            <a:off x="320040" y="804672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db6316529_15_158"/>
          <p:cNvSpPr/>
          <p:nvPr/>
        </p:nvSpPr>
        <p:spPr>
          <a:xfrm>
            <a:off x="228600" y="804672"/>
            <a:ext cx="5670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db6316529_15_158"/>
          <p:cNvSpPr/>
          <p:nvPr/>
        </p:nvSpPr>
        <p:spPr>
          <a:xfrm>
            <a:off x="283472" y="813822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db6316529_15_158"/>
          <p:cNvSpPr/>
          <p:nvPr/>
        </p:nvSpPr>
        <p:spPr>
          <a:xfrm>
            <a:off x="223575" y="1204775"/>
            <a:ext cx="668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ddb6316529_15_158"/>
          <p:cNvSpPr/>
          <p:nvPr/>
        </p:nvSpPr>
        <p:spPr>
          <a:xfrm>
            <a:off x="905293" y="81382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Patient Ready Confirmation 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db6316529_15_158"/>
          <p:cNvSpPr/>
          <p:nvPr/>
        </p:nvSpPr>
        <p:spPr>
          <a:xfrm>
            <a:off x="804672" y="1017016"/>
            <a:ext cx="35661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Call in-patient floor before departure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Patient not in room / unavailable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Cuts prep time 6.6 </a:t>
            </a: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→</a:t>
            </a: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2.4 min; IP echo ~58-62 min.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db6316529_15_158"/>
          <p:cNvSpPr/>
          <p:nvPr/>
        </p:nvSpPr>
        <p:spPr>
          <a:xfrm>
            <a:off x="320040" y="1828800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ddb6316529_15_158"/>
          <p:cNvSpPr/>
          <p:nvPr/>
        </p:nvSpPr>
        <p:spPr>
          <a:xfrm>
            <a:off x="228600" y="1828800"/>
            <a:ext cx="5670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db6316529_15_158"/>
          <p:cNvSpPr/>
          <p:nvPr/>
        </p:nvSpPr>
        <p:spPr>
          <a:xfrm>
            <a:off x="886968" y="190195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Nurse Pre-Notification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db6316529_15_158"/>
          <p:cNvSpPr/>
          <p:nvPr/>
        </p:nvSpPr>
        <p:spPr>
          <a:xfrm>
            <a:off x="980925" y="2204250"/>
            <a:ext cx="3566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Alert nurse before tech arrival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nurse, unavailable, IV delays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 Prep 6.1 → 3 min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ddb6316529_15_158"/>
          <p:cNvSpPr/>
          <p:nvPr/>
        </p:nvSpPr>
        <p:spPr>
          <a:xfrm>
            <a:off x="320040" y="2852928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db6316529_15_158"/>
          <p:cNvSpPr/>
          <p:nvPr/>
        </p:nvSpPr>
        <p:spPr>
          <a:xfrm>
            <a:off x="228600" y="2852928"/>
            <a:ext cx="5670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db6316529_15_158"/>
          <p:cNvSpPr/>
          <p:nvPr/>
        </p:nvSpPr>
        <p:spPr>
          <a:xfrm>
            <a:off x="320040" y="3877056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db6316529_15_158"/>
          <p:cNvSpPr/>
          <p:nvPr/>
        </p:nvSpPr>
        <p:spPr>
          <a:xfrm>
            <a:off x="228600" y="3877056"/>
            <a:ext cx="567000" cy="9144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db6316529_15_158"/>
          <p:cNvSpPr/>
          <p:nvPr/>
        </p:nvSpPr>
        <p:spPr>
          <a:xfrm>
            <a:off x="283472" y="3877056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ddb6316529_15_158"/>
          <p:cNvSpPr/>
          <p:nvPr/>
        </p:nvSpPr>
        <p:spPr>
          <a:xfrm>
            <a:off x="859568" y="2900683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Imaging Software </a:t>
            </a: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IT Fix — Session Persistence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ddb6316529_15_158"/>
          <p:cNvSpPr/>
          <p:nvPr/>
        </p:nvSpPr>
        <p:spPr>
          <a:xfrm>
            <a:off x="859575" y="3184826"/>
            <a:ext cx="3566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 login crashes &amp; implement auto-save every 5 minutes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5-10 min system delays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Eliminates 5–10 min crashes per affected visit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db6316529_15_158"/>
          <p:cNvSpPr/>
          <p:nvPr/>
        </p:nvSpPr>
        <p:spPr>
          <a:xfrm>
            <a:off x="4709160" y="804672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db6316529_15_158"/>
          <p:cNvSpPr/>
          <p:nvPr/>
        </p:nvSpPr>
        <p:spPr>
          <a:xfrm>
            <a:off x="4636008" y="804672"/>
            <a:ext cx="548700" cy="91440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db6316529_15_158"/>
          <p:cNvSpPr/>
          <p:nvPr/>
        </p:nvSpPr>
        <p:spPr>
          <a:xfrm>
            <a:off x="4695454" y="813822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ddb6316529_15_158"/>
          <p:cNvSpPr/>
          <p:nvPr/>
        </p:nvSpPr>
        <p:spPr>
          <a:xfrm>
            <a:off x="4574550" y="1209275"/>
            <a:ext cx="699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ddb6316529_15_158"/>
          <p:cNvSpPr/>
          <p:nvPr/>
        </p:nvSpPr>
        <p:spPr>
          <a:xfrm>
            <a:off x="5276088" y="87782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Pre-Scan Restroom Prompt (All)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db6316529_15_158"/>
          <p:cNvSpPr/>
          <p:nvPr/>
        </p:nvSpPr>
        <p:spPr>
          <a:xfrm>
            <a:off x="5294338" y="1215735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Prompt patients before scan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Mid-exam interruptions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Removes 3 - 5 min delays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db6316529_15_158"/>
          <p:cNvSpPr/>
          <p:nvPr/>
        </p:nvSpPr>
        <p:spPr>
          <a:xfrm>
            <a:off x="4709160" y="1828800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ddb6316529_15_158"/>
          <p:cNvSpPr/>
          <p:nvPr/>
        </p:nvSpPr>
        <p:spPr>
          <a:xfrm>
            <a:off x="4636008" y="1828800"/>
            <a:ext cx="548700" cy="914400"/>
          </a:xfrm>
          <a:prstGeom prst="rect">
            <a:avLst/>
          </a:prstGeom>
          <a:solidFill>
            <a:srgbClr val="0D2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ddb6316529_15_158"/>
          <p:cNvSpPr/>
          <p:nvPr/>
        </p:nvSpPr>
        <p:spPr>
          <a:xfrm>
            <a:off x="4672592" y="1833375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db6316529_15_158"/>
          <p:cNvSpPr/>
          <p:nvPr/>
        </p:nvSpPr>
        <p:spPr>
          <a:xfrm>
            <a:off x="5276088" y="190195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Shift-Start 5S Supply 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db6316529_15_158"/>
          <p:cNvSpPr/>
          <p:nvPr/>
        </p:nvSpPr>
        <p:spPr>
          <a:xfrm>
            <a:off x="5294338" y="2234688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Standardize supply checklist before starting procedures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Supply retrieval delays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Removes 3-10 min delays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db6316529_15_158"/>
          <p:cNvSpPr/>
          <p:nvPr/>
        </p:nvSpPr>
        <p:spPr>
          <a:xfrm>
            <a:off x="4709160" y="2852928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db6316529_15_158"/>
          <p:cNvSpPr/>
          <p:nvPr/>
        </p:nvSpPr>
        <p:spPr>
          <a:xfrm>
            <a:off x="4636008" y="2852928"/>
            <a:ext cx="548700" cy="91440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db6316529_15_158"/>
          <p:cNvSpPr/>
          <p:nvPr/>
        </p:nvSpPr>
        <p:spPr>
          <a:xfrm>
            <a:off x="4695454" y="2855216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db6316529_15_158"/>
          <p:cNvSpPr/>
          <p:nvPr/>
        </p:nvSpPr>
        <p:spPr>
          <a:xfrm>
            <a:off x="4544586" y="3249604"/>
            <a:ext cx="740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db6316529_15_158"/>
          <p:cNvSpPr/>
          <p:nvPr/>
        </p:nvSpPr>
        <p:spPr>
          <a:xfrm>
            <a:off x="5276088" y="2926080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Room Pre-Assignment with Conflict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db6316529_15_158"/>
          <p:cNvSpPr/>
          <p:nvPr/>
        </p:nvSpPr>
        <p:spPr>
          <a:xfrm>
            <a:off x="5294338" y="3293616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Assign rooms &amp; check conflicts early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Rooming delays (Holter overlap)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Rooming: 48.3 min max → 2.4 min median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ddb6316529_15_158"/>
          <p:cNvSpPr/>
          <p:nvPr/>
        </p:nvSpPr>
        <p:spPr>
          <a:xfrm>
            <a:off x="4709160" y="3877056"/>
            <a:ext cx="4206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db6316529_15_158"/>
          <p:cNvSpPr/>
          <p:nvPr/>
        </p:nvSpPr>
        <p:spPr>
          <a:xfrm>
            <a:off x="4636008" y="3877056"/>
            <a:ext cx="54870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db6316529_15_158"/>
          <p:cNvSpPr/>
          <p:nvPr/>
        </p:nvSpPr>
        <p:spPr>
          <a:xfrm>
            <a:off x="4672592" y="3877056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db6316529_15_158"/>
          <p:cNvSpPr/>
          <p:nvPr/>
        </p:nvSpPr>
        <p:spPr>
          <a:xfrm>
            <a:off x="4544565" y="4286338"/>
            <a:ext cx="749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db6316529_15_158"/>
          <p:cNvSpPr/>
          <p:nvPr/>
        </p:nvSpPr>
        <p:spPr>
          <a:xfrm>
            <a:off x="5276088" y="3950208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Provident Transport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db6316529_15_158"/>
          <p:cNvSpPr/>
          <p:nvPr/>
        </p:nvSpPr>
        <p:spPr>
          <a:xfrm>
            <a:off x="5312500" y="4272650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Optimize transport workflow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Fixes:Close 17-min gap vs Stroger 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Time: 78 →  ≤ 65 min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db6316529_15_158"/>
          <p:cNvSpPr/>
          <p:nvPr/>
        </p:nvSpPr>
        <p:spPr>
          <a:xfrm>
            <a:off x="223563" y="2234700"/>
            <a:ext cx="668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db6316529_15_158"/>
          <p:cNvSpPr/>
          <p:nvPr/>
        </p:nvSpPr>
        <p:spPr>
          <a:xfrm>
            <a:off x="223575" y="3276100"/>
            <a:ext cx="668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db6316529_15_158"/>
          <p:cNvSpPr/>
          <p:nvPr/>
        </p:nvSpPr>
        <p:spPr>
          <a:xfrm>
            <a:off x="223563" y="4247900"/>
            <a:ext cx="668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ddb6316529_15_158"/>
          <p:cNvSpPr/>
          <p:nvPr/>
        </p:nvSpPr>
        <p:spPr>
          <a:xfrm>
            <a:off x="4574550" y="2237975"/>
            <a:ext cx="699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db6316529_15_158"/>
          <p:cNvSpPr txBox="1"/>
          <p:nvPr/>
        </p:nvSpPr>
        <p:spPr>
          <a:xfrm>
            <a:off x="0" y="0"/>
            <a:ext cx="49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Recommendations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db6316529_15_158"/>
          <p:cNvSpPr/>
          <p:nvPr/>
        </p:nvSpPr>
        <p:spPr>
          <a:xfrm>
            <a:off x="887031" y="3946655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E5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2E5B"/>
                </a:solidFill>
                <a:latin typeface="Calibri"/>
                <a:ea typeface="Calibri"/>
                <a:cs typeface="Calibri"/>
                <a:sym typeface="Calibri"/>
              </a:rPr>
              <a:t>IV Pre-Placement for Out-Patient Contrast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db6316529_15_158"/>
          <p:cNvSpPr/>
          <p:nvPr/>
        </p:nvSpPr>
        <p:spPr>
          <a:xfrm>
            <a:off x="859568" y="4317491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Place IV before echo begins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Fixes: 46% of outpatient IV wait</a:t>
            </a:r>
            <a:endParaRPr b="0" i="1" sz="9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-"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Outpatient contrast: 72.2 → 62–67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db6316529_15_158"/>
          <p:cNvSpPr/>
          <p:nvPr/>
        </p:nvSpPr>
        <p:spPr>
          <a:xfrm>
            <a:off x="308297" y="1834525"/>
            <a:ext cx="45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db6316529_15_158"/>
          <p:cNvSpPr/>
          <p:nvPr/>
        </p:nvSpPr>
        <p:spPr>
          <a:xfrm>
            <a:off x="237725" y="2878587"/>
            <a:ext cx="548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b6316529_15_274"/>
          <p:cNvSpPr txBox="1"/>
          <p:nvPr/>
        </p:nvSpPr>
        <p:spPr>
          <a:xfrm>
            <a:off x="0" y="0"/>
            <a:ext cx="49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Savings after Lean Implementation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g3ddb6316529_15_274"/>
          <p:cNvGraphicFramePr/>
          <p:nvPr/>
        </p:nvGraphicFramePr>
        <p:xfrm>
          <a:off x="505563" y="8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{773C0CC2-5F1B-480B-8BA3-6A916898B99B}</a:tableStyleId>
              </a:tblPr>
              <a:tblGrid>
                <a:gridCol w="1675325"/>
                <a:gridCol w="1123900"/>
                <a:gridCol w="1504350"/>
                <a:gridCol w="2085600"/>
                <a:gridCol w="1743675"/>
              </a:tblGrid>
              <a:tr h="64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Mean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(Total Time)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Range (mean)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(Forecasted Total time)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Saved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 Echo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68.7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– 62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7–11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Contrast Study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61.0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 – 60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5–10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TEE Study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59.0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– 55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5–9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Bubble Study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68.3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– 65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3–8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 Echo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64.5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– 67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5–10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48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Contrast Study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Outpatient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72.2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– 67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 10–16 min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def8857b14_3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db6316529_15_133"/>
          <p:cNvSpPr txBox="1"/>
          <p:nvPr/>
        </p:nvSpPr>
        <p:spPr>
          <a:xfrm>
            <a:off x="34700" y="26950"/>
            <a:ext cx="768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Financial Analysis FY 2025 - </a:t>
            </a:r>
            <a:r>
              <a:rPr b="1" i="0" lang="en-US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Echocardiology </a:t>
            </a:r>
            <a:endParaRPr b="1" i="0" sz="2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nancial_excel.png" id="185" name="Google Shape;185;g3ddb6316529_15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50" y="1240525"/>
            <a:ext cx="8916101" cy="3640825"/>
          </a:xfrm>
          <a:prstGeom prst="rect">
            <a:avLst/>
          </a:prstGeom>
          <a:noFill/>
          <a:ln cap="flat" cmpd="sng" w="12700">
            <a:solidFill>
              <a:srgbClr val="DDE6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12700">
              <a:srgbClr val="000000">
                <a:alpha val="10196"/>
              </a:srgbClr>
            </a:outerShdw>
          </a:effectLst>
        </p:spPr>
      </p:pic>
      <p:sp>
        <p:nvSpPr>
          <p:cNvPr id="186" name="Google Shape;186;g3ddb6316529_15_133"/>
          <p:cNvSpPr txBox="1"/>
          <p:nvPr/>
        </p:nvSpPr>
        <p:spPr>
          <a:xfrm>
            <a:off x="113950" y="766025"/>
            <a:ext cx="44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Snippet of the data provided to us: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ddb6316529_15_133"/>
          <p:cNvSpPr/>
          <p:nvPr/>
        </p:nvSpPr>
        <p:spPr>
          <a:xfrm>
            <a:off x="6611350" y="1240675"/>
            <a:ext cx="1188900" cy="364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db6316529_15_133"/>
          <p:cNvSpPr/>
          <p:nvPr/>
        </p:nvSpPr>
        <p:spPr>
          <a:xfrm>
            <a:off x="2481525" y="1240675"/>
            <a:ext cx="1188900" cy="364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db6316529_15_121"/>
          <p:cNvSpPr txBox="1"/>
          <p:nvPr/>
        </p:nvSpPr>
        <p:spPr>
          <a:xfrm>
            <a:off x="40100" y="48475"/>
            <a:ext cx="668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Charge &amp; Volume Architecture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5" name="Google Shape;195;g3ddb6316529_15_121"/>
          <p:cNvGraphicFramePr/>
          <p:nvPr/>
        </p:nvGraphicFramePr>
        <p:xfrm>
          <a:off x="228600" y="101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{773C0CC2-5F1B-480B-8BA3-6A916898B99B}</a:tableStyleId>
              </a:tblPr>
              <a:tblGrid>
                <a:gridCol w="1203075"/>
                <a:gridCol w="1659775"/>
                <a:gridCol w="1604525"/>
                <a:gridCol w="434000"/>
                <a:gridCol w="1180775"/>
              </a:tblGrid>
              <a:tr h="51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Metric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3"/>
                            </a:ext>
                          </a:extLst>
                        </a:rPr>
                        <a:t>Hospital (Facility) Fee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4"/>
                            </a:ext>
                          </a:extLst>
                        </a:rPr>
                        <a:t>Professional Fee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5"/>
                            </a:ext>
                          </a:extLst>
                        </a:rPr>
                        <a:t>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6"/>
                            </a:ext>
                          </a:extLst>
                        </a:rPr>
                        <a:t>Total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</a:tr>
              <a:tr h="51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Charges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$5,933,187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$933,893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$6,867,080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51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Volume (Qty)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4,262 (43%)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5,727 (57%)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9,989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67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Charge per Service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~$1,392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~$163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$687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Charges Contribution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86.00%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14.00%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g3ddb6316529_15_121"/>
          <p:cNvSpPr txBox="1"/>
          <p:nvPr/>
        </p:nvSpPr>
        <p:spPr>
          <a:xfrm>
            <a:off x="6681025" y="1320675"/>
            <a:ext cx="2286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Professional Fees account for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57% of the record volume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(5,727 records), they only drive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14% of the charges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This is due to the disparity in average charge per record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b6316529_15_17"/>
          <p:cNvSpPr txBox="1"/>
          <p:nvPr/>
        </p:nvSpPr>
        <p:spPr>
          <a:xfrm>
            <a:off x="98300" y="46000"/>
            <a:ext cx="668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Services Concentration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g3ddb6316529_15_17"/>
          <p:cNvGraphicFramePr/>
          <p:nvPr/>
        </p:nvGraphicFramePr>
        <p:xfrm>
          <a:off x="152800" y="83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{FA62089B-9A3E-4C9E-BC14-CCFD43E35460}</a:tableStyleId>
              </a:tblPr>
              <a:tblGrid>
                <a:gridCol w="1551650"/>
                <a:gridCol w="1263250"/>
                <a:gridCol w="1485950"/>
                <a:gridCol w="990125"/>
                <a:gridCol w="1342425"/>
              </a:tblGrid>
              <a:tr h="387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7"/>
                            </a:ext>
                          </a:extLst>
                        </a:rPr>
                        <a:t>Procedure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8"/>
                            </a:ext>
                          </a:extLst>
                        </a:rPr>
                        <a:t>CPA 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9"/>
                            </a:ext>
                          </a:extLst>
                        </a:rPr>
                        <a:t>INVISION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10"/>
                            </a:ext>
                          </a:extLst>
                        </a:rPr>
                        <a:t>CPA Count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11"/>
                            </a:ext>
                          </a:extLst>
                        </a:rPr>
                        <a:t>INVISION Count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ECHO TTE COMPLETE W/CONTRAST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$288,081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$4,575,454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181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2888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6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PF-ECHO TTE W/CONTRAST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$29,556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$489,599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2882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3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TEE (TRANSESOPHAGEAL)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$299,155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213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34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REST &amp; STRESS W/PF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$189,901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TTE LIMITED W/CONTRAST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$9,761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$173,025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239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2D W/W/O M-MODE LTD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$29,274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$129,128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208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DOBUTAMINE STRESS ONLY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$93,833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34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 TEE CMPL W/PF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$78,586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PF-ECHO TRANSTH W/DOPPLER COM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$95,844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$166,227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564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978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5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PF-ECHO TEE (TRANSESOPHAGEAL)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$69,420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265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g3ddb6316529_15_17"/>
          <p:cNvSpPr txBox="1"/>
          <p:nvPr/>
        </p:nvSpPr>
        <p:spPr>
          <a:xfrm>
            <a:off x="7005225" y="1655700"/>
            <a:ext cx="1923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Certain procedure types do not have a corresponding charge in CPA for PF fees -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1:1 ratio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db6316529_25_3"/>
          <p:cNvSpPr txBox="1"/>
          <p:nvPr/>
        </p:nvSpPr>
        <p:spPr>
          <a:xfrm>
            <a:off x="0" y="95900"/>
            <a:ext cx="668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Location-Wise Charge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db6316529_25_3"/>
          <p:cNvSpPr txBox="1"/>
          <p:nvPr/>
        </p:nvSpPr>
        <p:spPr>
          <a:xfrm>
            <a:off x="5674225" y="941125"/>
            <a:ext cx="32148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SHCC Adult Cardiology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serves as the primary operational hub, responsible for the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vast majority of both facility and professional revenue. 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Inpatient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setting represents the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second-largest revenue source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emphasizing the department's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critical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role in acute care diagnostics.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Additionally, you will see Professional charges are there, but no hospital charges recorded for the respective location.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g3ddb6316529_25_3"/>
          <p:cNvGraphicFramePr/>
          <p:nvPr/>
        </p:nvGraphicFramePr>
        <p:xfrm>
          <a:off x="172350" y="71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{773C0CC2-5F1B-480B-8BA3-6A916898B99B}</a:tableStyleId>
              </a:tblPr>
              <a:tblGrid>
                <a:gridCol w="1612600"/>
                <a:gridCol w="1592950"/>
                <a:gridCol w="1673250"/>
              </a:tblGrid>
              <a:tr h="26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Hospital Charges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Professional Charges</a:t>
                      </a:r>
                      <a:endParaRPr b="1"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SHCC ADULT CARDIOLOGY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4,348,717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605,020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INPATIENT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973,308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132,847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 CARDIAC DIAGNOSTIC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326,165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127,561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CCHHS EKG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30,389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35,273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CERNER DEFAULT CLINIC CODE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243,940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31,837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SHCC ADULT ER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6,399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848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90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CCHHS CARDIOLOGY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169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Cardiology Clinic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Charges Recorded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169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29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SSC CARDIOLOGY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4,269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169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f8857b14_0_4"/>
          <p:cNvSpPr/>
          <p:nvPr/>
        </p:nvSpPr>
        <p:spPr>
          <a:xfrm>
            <a:off x="0" y="0"/>
            <a:ext cx="9144000" cy="7131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ef8857b14_0_4"/>
          <p:cNvSpPr/>
          <p:nvPr/>
        </p:nvSpPr>
        <p:spPr>
          <a:xfrm>
            <a:off x="-5" y="9275"/>
            <a:ext cx="8595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Key Findings Summary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ef8857b14_0_4"/>
          <p:cNvSpPr/>
          <p:nvPr/>
        </p:nvSpPr>
        <p:spPr>
          <a:xfrm>
            <a:off x="228600" y="841248"/>
            <a:ext cx="4206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ef8857b14_0_4"/>
          <p:cNvSpPr/>
          <p:nvPr/>
        </p:nvSpPr>
        <p:spPr>
          <a:xfrm>
            <a:off x="228600" y="841248"/>
            <a:ext cx="63900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def8857b14_0_4"/>
          <p:cNvSpPr/>
          <p:nvPr/>
        </p:nvSpPr>
        <p:spPr>
          <a:xfrm>
            <a:off x="338328" y="932688"/>
            <a:ext cx="347400" cy="3474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def8857b14_0_4"/>
          <p:cNvSpPr/>
          <p:nvPr/>
        </p:nvSpPr>
        <p:spPr>
          <a:xfrm>
            <a:off x="338328" y="93268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def8857b14_0_4"/>
          <p:cNvSpPr/>
          <p:nvPr/>
        </p:nvSpPr>
        <p:spPr>
          <a:xfrm>
            <a:off x="763502" y="969381"/>
            <a:ext cx="358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Waiting is the #1 Waste in Both Pathways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def8857b14_0_4"/>
          <p:cNvSpPr/>
          <p:nvPr/>
        </p:nvSpPr>
        <p:spPr>
          <a:xfrm>
            <a:off x="4709160" y="841248"/>
            <a:ext cx="4206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def8857b14_0_4"/>
          <p:cNvSpPr/>
          <p:nvPr/>
        </p:nvSpPr>
        <p:spPr>
          <a:xfrm>
            <a:off x="4709160" y="841248"/>
            <a:ext cx="63900" cy="914400"/>
          </a:xfrm>
          <a:prstGeom prst="rect">
            <a:avLst/>
          </a:prstGeom>
          <a:solidFill>
            <a:srgbClr val="D4820A"/>
          </a:solidFill>
          <a:ln cap="flat" cmpd="sng" w="12700">
            <a:solidFill>
              <a:srgbClr val="D48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def8857b14_0_4"/>
          <p:cNvSpPr/>
          <p:nvPr/>
        </p:nvSpPr>
        <p:spPr>
          <a:xfrm>
            <a:off x="4818888" y="932688"/>
            <a:ext cx="347400" cy="347400"/>
          </a:xfrm>
          <a:prstGeom prst="ellipse">
            <a:avLst/>
          </a:prstGeom>
          <a:solidFill>
            <a:srgbClr val="D4820A"/>
          </a:solidFill>
          <a:ln cap="flat" cmpd="sng" w="12700">
            <a:solidFill>
              <a:srgbClr val="D482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def8857b14_0_4"/>
          <p:cNvSpPr/>
          <p:nvPr/>
        </p:nvSpPr>
        <p:spPr>
          <a:xfrm>
            <a:off x="4818888" y="93268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def8857b14_0_4"/>
          <p:cNvSpPr/>
          <p:nvPr/>
        </p:nvSpPr>
        <p:spPr>
          <a:xfrm>
            <a:off x="5212162" y="969381"/>
            <a:ext cx="358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Imaging Software</a:t>
            </a: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Failures Add 5–10 Min Per OP Encounter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def8857b14_0_4"/>
          <p:cNvSpPr/>
          <p:nvPr/>
        </p:nvSpPr>
        <p:spPr>
          <a:xfrm>
            <a:off x="228600" y="1874520"/>
            <a:ext cx="4206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ef8857b14_0_4"/>
          <p:cNvSpPr/>
          <p:nvPr/>
        </p:nvSpPr>
        <p:spPr>
          <a:xfrm>
            <a:off x="228600" y="1874520"/>
            <a:ext cx="63900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ef8857b14_0_4"/>
          <p:cNvSpPr/>
          <p:nvPr/>
        </p:nvSpPr>
        <p:spPr>
          <a:xfrm>
            <a:off x="338328" y="1965960"/>
            <a:ext cx="347400" cy="3474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def8857b14_0_4"/>
          <p:cNvSpPr/>
          <p:nvPr/>
        </p:nvSpPr>
        <p:spPr>
          <a:xfrm>
            <a:off x="338328" y="196596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ef8857b14_0_4"/>
          <p:cNvSpPr/>
          <p:nvPr/>
        </p:nvSpPr>
        <p:spPr>
          <a:xfrm>
            <a:off x="763502" y="2047478"/>
            <a:ext cx="358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 Placement = 46% of All OP Delay Events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ef8857b14_0_4"/>
          <p:cNvSpPr/>
          <p:nvPr/>
        </p:nvSpPr>
        <p:spPr>
          <a:xfrm>
            <a:off x="4709160" y="1874520"/>
            <a:ext cx="4206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ef8857b14_0_4"/>
          <p:cNvSpPr/>
          <p:nvPr/>
        </p:nvSpPr>
        <p:spPr>
          <a:xfrm>
            <a:off x="4709160" y="1874520"/>
            <a:ext cx="63900" cy="9144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ef8857b14_0_4"/>
          <p:cNvSpPr/>
          <p:nvPr/>
        </p:nvSpPr>
        <p:spPr>
          <a:xfrm>
            <a:off x="4818888" y="1965960"/>
            <a:ext cx="347400" cy="3474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def8857b14_0_4"/>
          <p:cNvSpPr/>
          <p:nvPr/>
        </p:nvSpPr>
        <p:spPr>
          <a:xfrm>
            <a:off x="4818888" y="196596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ef8857b14_0_4"/>
          <p:cNvSpPr/>
          <p:nvPr/>
        </p:nvSpPr>
        <p:spPr>
          <a:xfrm>
            <a:off x="5212162" y="2047478"/>
            <a:ext cx="358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Lean Implementation: +1 Echo/Tech/Day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ef8857b14_0_4"/>
          <p:cNvSpPr/>
          <p:nvPr/>
        </p:nvSpPr>
        <p:spPr>
          <a:xfrm>
            <a:off x="228600" y="2980944"/>
            <a:ext cx="8686800" cy="2559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ef8857b14_0_4"/>
          <p:cNvSpPr/>
          <p:nvPr/>
        </p:nvSpPr>
        <p:spPr>
          <a:xfrm>
            <a:off x="320040" y="2980944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FY 2025 Financial Snapshot — Echocardiology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ef8857b14_0_4"/>
          <p:cNvSpPr/>
          <p:nvPr/>
        </p:nvSpPr>
        <p:spPr>
          <a:xfrm>
            <a:off x="201168" y="3273552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ef8857b14_0_4"/>
          <p:cNvSpPr/>
          <p:nvPr/>
        </p:nvSpPr>
        <p:spPr>
          <a:xfrm>
            <a:off x="201168" y="3273552"/>
            <a:ext cx="2084700" cy="732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ef8857b14_0_4"/>
          <p:cNvSpPr/>
          <p:nvPr/>
        </p:nvSpPr>
        <p:spPr>
          <a:xfrm>
            <a:off x="292608" y="3383280"/>
            <a:ext cx="190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$6.87M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ef8857b14_0_4"/>
          <p:cNvSpPr/>
          <p:nvPr/>
        </p:nvSpPr>
        <p:spPr>
          <a:xfrm>
            <a:off x="292608" y="4059936"/>
            <a:ext cx="190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Total Charges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ef8857b14_0_4"/>
          <p:cNvSpPr/>
          <p:nvPr/>
        </p:nvSpPr>
        <p:spPr>
          <a:xfrm>
            <a:off x="274320" y="4306824"/>
            <a:ext cx="1938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$5.93M facility + $933K professional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def8857b14_0_4"/>
          <p:cNvSpPr/>
          <p:nvPr/>
        </p:nvSpPr>
        <p:spPr>
          <a:xfrm>
            <a:off x="2340864" y="3273552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def8857b14_0_4"/>
          <p:cNvSpPr/>
          <p:nvPr/>
        </p:nvSpPr>
        <p:spPr>
          <a:xfrm>
            <a:off x="2340864" y="3273552"/>
            <a:ext cx="2084700" cy="73200"/>
          </a:xfrm>
          <a:prstGeom prst="rect">
            <a:avLst/>
          </a:prstGeom>
          <a:solidFill>
            <a:srgbClr val="1A7A6E"/>
          </a:solidFill>
          <a:ln cap="flat" cmpd="sng" w="12700">
            <a:solidFill>
              <a:srgbClr val="1A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def8857b14_0_4"/>
          <p:cNvSpPr/>
          <p:nvPr/>
        </p:nvSpPr>
        <p:spPr>
          <a:xfrm>
            <a:off x="2432304" y="3383280"/>
            <a:ext cx="190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$4.86M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ef8857b14_0_4"/>
          <p:cNvSpPr/>
          <p:nvPr/>
        </p:nvSpPr>
        <p:spPr>
          <a:xfrm>
            <a:off x="2432304" y="4059936"/>
            <a:ext cx="190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 Procedure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ef8857b14_0_4"/>
          <p:cNvSpPr/>
          <p:nvPr/>
        </p:nvSpPr>
        <p:spPr>
          <a:xfrm>
            <a:off x="2414016" y="4306824"/>
            <a:ext cx="1938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ECHO TTE Complete w/ Contrast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86% of all facility charges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ef8857b14_0_4"/>
          <p:cNvSpPr/>
          <p:nvPr/>
        </p:nvSpPr>
        <p:spPr>
          <a:xfrm>
            <a:off x="4480560" y="3273552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ef8857b14_0_4"/>
          <p:cNvSpPr/>
          <p:nvPr/>
        </p:nvSpPr>
        <p:spPr>
          <a:xfrm>
            <a:off x="4480560" y="3273552"/>
            <a:ext cx="2084700" cy="732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ef8857b14_0_4"/>
          <p:cNvSpPr/>
          <p:nvPr/>
        </p:nvSpPr>
        <p:spPr>
          <a:xfrm>
            <a:off x="4572000" y="3383280"/>
            <a:ext cx="190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9,989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ef8857b14_0_4"/>
          <p:cNvSpPr/>
          <p:nvPr/>
        </p:nvSpPr>
        <p:spPr>
          <a:xfrm>
            <a:off x="4572000" y="4059936"/>
            <a:ext cx="190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Total Encounters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ef8857b14_0_4"/>
          <p:cNvSpPr/>
          <p:nvPr/>
        </p:nvSpPr>
        <p:spPr>
          <a:xfrm>
            <a:off x="4553712" y="4306824"/>
            <a:ext cx="1938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4,262 hospital (43%)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5,727 professional (57%)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ef8857b14_0_4"/>
          <p:cNvSpPr/>
          <p:nvPr/>
        </p:nvSpPr>
        <p:spPr>
          <a:xfrm>
            <a:off x="6620256" y="3273552"/>
            <a:ext cx="20847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def8857b14_0_4"/>
          <p:cNvSpPr/>
          <p:nvPr/>
        </p:nvSpPr>
        <p:spPr>
          <a:xfrm>
            <a:off x="6620256" y="3273552"/>
            <a:ext cx="2084700" cy="73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ef8857b14_0_4"/>
          <p:cNvSpPr/>
          <p:nvPr/>
        </p:nvSpPr>
        <p:spPr>
          <a:xfrm>
            <a:off x="6711696" y="3383280"/>
            <a:ext cx="190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–17 min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ef8857b14_0_4"/>
          <p:cNvSpPr/>
          <p:nvPr/>
        </p:nvSpPr>
        <p:spPr>
          <a:xfrm>
            <a:off x="6711696" y="4059936"/>
            <a:ext cx="190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Stroger vs Provident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ef8857b14_0_4"/>
          <p:cNvSpPr/>
          <p:nvPr/>
        </p:nvSpPr>
        <p:spPr>
          <a:xfrm>
            <a:off x="6693408" y="4306824"/>
            <a:ext cx="1938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Provident averages 17 min longer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Site-specific transport protocol needed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2026-05-06T04:06:37Z</dcterms:created>
  <dc:creator>PptxGenJS</dc:creator>
</cp:coreProperties>
</file>